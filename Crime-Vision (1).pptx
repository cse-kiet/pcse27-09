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Space Grotesk Bold"/>
      <p:regular r:id="rId201314"/>
    </p:embeddedFont>
    <p:embeddedFont>
      <p:font typeface="Inter"/>
      <p:regular r:id="rId201315"/>
    </p:embeddedFont>
    <p:embeddedFont>
      <p:font typeface="Inter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3.png"/><Relationship Id="rId8" Type="http://schemas.openxmlformats.org/officeDocument/2006/relationships/image" Target="../media/image-8-4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rime-analysis-ai.onrender.com" TargetMode="External"/><Relationship Id="rId2" Type="http://schemas.openxmlformats.org/officeDocument/2006/relationships/hyperlink" Target="https://github.com/cse-kiet/PCSE27-09" TargetMode="External"/><Relationship Id="rId3" Type="http://schemas.openxmlformats.org/officeDocument/2006/relationships/image" Target="../media/image-10-1.jpeg"/><Relationship Id="rId4" Type="http://schemas.openxmlformats.org/officeDocument/2006/relationships/image" Target="../media/image-10-2.jpeg"/><Relationship Id="rId5" Type="http://schemas.openxmlformats.org/officeDocument/2006/relationships/image" Target="../media/image-10-3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7" y="1225649"/>
            <a:ext cx="4406591" cy="440670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683617"/>
            <a:ext cx="6296860" cy="2067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0" b="1" spc="-260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Crime</a:t>
            </a:r>
            <a:endParaRPr lang="en-US" sz="65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6500" b="1" spc="-260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Vision</a:t>
            </a:r>
            <a:endParaRPr lang="en-US" sz="6500" dirty="0"/>
          </a:p>
        </p:txBody>
      </p:sp>
      <p:sp>
        <p:nvSpPr>
          <p:cNvPr id="5" name="Text 1"/>
          <p:cNvSpPr/>
          <p:nvPr/>
        </p:nvSpPr>
        <p:spPr>
          <a:xfrm>
            <a:off x="5233360" y="2998986"/>
            <a:ext cx="6296860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65" kern="0" dirty="0">
                <a:solidFill>
                  <a:srgbClr val="722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An Integrated Machine Learning Based Crime Analysis and Forecasting System with Web Visualization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233360" y="3763963"/>
            <a:ext cx="6296860" cy="2410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i="1" spc="-2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End-to-End Predictive Policing &amp; Citizen Safety Framework using Machine Learning, Web Scraping &amp; Geospatial Analytics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b="1" spc="-2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Domain: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spc="-2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Computer Science &amp; Engineering / Machine Learning &amp; Data Science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b="1" spc="-2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Presented By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spc="-2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Pearl Kayastha(2300290100170),Riya Bhardwaj(2300290100211),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Priya Shalini(2300290100189),Nipun Mittal(2300290100165)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Guided By:</a:t>
            </a:r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Dr. Nishu Gupta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Institution:</a:t>
            </a:r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KIET Group Of Institution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5078"/>
            <a:ext cx="802957" cy="234950"/>
          </a:xfrm>
          <a:prstGeom prst="roundRect">
            <a:avLst>
              <a:gd name="adj" fmla="val 47397"/>
            </a:avLst>
          </a:prstGeom>
          <a:noFill/>
          <a:ln w="6350">
            <a:solidFill>
              <a:srgbClr val="722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4242" y="671413"/>
            <a:ext cx="1227008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4" kern="0" dirty="0">
                <a:solidFill>
                  <a:srgbClr val="722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17873"/>
            <a:ext cx="10868745" cy="483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122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Introduction &amp; Background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1475" y="1618059"/>
            <a:ext cx="309257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-49" kern="0" dirty="0">
                <a:solidFill>
                  <a:srgbClr val="0E0E1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1475" y="1861741"/>
            <a:ext cx="5362044" cy="19050"/>
          </a:xfrm>
          <a:prstGeom prst="rect">
            <a:avLst/>
          </a:prstGeom>
          <a:solidFill>
            <a:srgbClr val="0E0E10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1977132"/>
            <a:ext cx="5362044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61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Urban Safety Challenge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1475" y="2305546"/>
            <a:ext cx="5362044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spc="-24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Crime prevention is a critical requirement for urban safety and law enforcement planning across India. Millions of crime records are logged annually by the National Crime Records Bureau (NCRB).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68077" y="1618059"/>
            <a:ext cx="309257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-49" kern="0" dirty="0">
                <a:solidFill>
                  <a:srgbClr val="0E0E1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8077" y="1861741"/>
            <a:ext cx="5362143" cy="19050"/>
          </a:xfrm>
          <a:prstGeom prst="rect">
            <a:avLst/>
          </a:prstGeom>
          <a:solidFill>
            <a:srgbClr val="0E0E10"/>
          </a:solidFill>
          <a:ln/>
        </p:spPr>
      </p:sp>
      <p:sp>
        <p:nvSpPr>
          <p:cNvPr id="11" name="Text 9"/>
          <p:cNvSpPr/>
          <p:nvPr/>
        </p:nvSpPr>
        <p:spPr>
          <a:xfrm>
            <a:off x="6168077" y="1977132"/>
            <a:ext cx="5362143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61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Opportunity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68077" y="2305546"/>
            <a:ext cx="5362143" cy="4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spc="-24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crime records contain spatial-temporal patterns that can forecast future crime hotspots — a vast, underutilized intelligence resource.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1475" y="3284339"/>
            <a:ext cx="309257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-49" kern="0" dirty="0">
                <a:solidFill>
                  <a:srgbClr val="0E0E1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1475" y="3528020"/>
            <a:ext cx="5362044" cy="19050"/>
          </a:xfrm>
          <a:prstGeom prst="rect">
            <a:avLst/>
          </a:prstGeom>
          <a:solidFill>
            <a:srgbClr val="C65A2E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3643412"/>
            <a:ext cx="5362044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61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Our Core Idea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1475" y="3971826"/>
            <a:ext cx="5362044" cy="4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spc="-24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 from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spc="-24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Reactive Policing</a:t>
            </a:r>
            <a:pPr algn="l" indent="0" marL="0">
              <a:lnSpc>
                <a:spcPct val="129000"/>
              </a:lnSpc>
              <a:buNone/>
            </a:pPr>
            <a:r>
              <a:rPr lang="en-US" sz="1200" spc="-24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(responding after a crime occurs) to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spc="-24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Policing</a:t>
            </a:r>
            <a:pPr algn="l" indent="0" marL="0">
              <a:lnSpc>
                <a:spcPct val="129000"/>
              </a:lnSpc>
              <a:buNone/>
            </a:pPr>
            <a:r>
              <a:rPr lang="en-US" sz="1200" spc="-24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(allocating resources before a crime occurs).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68077" y="3284339"/>
            <a:ext cx="309257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-49" kern="0" dirty="0">
                <a:solidFill>
                  <a:srgbClr val="0E0E1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68077" y="3528020"/>
            <a:ext cx="5362143" cy="19050"/>
          </a:xfrm>
          <a:prstGeom prst="rect">
            <a:avLst/>
          </a:prstGeom>
          <a:solidFill>
            <a:srgbClr val="6B6F76"/>
          </a:solidFill>
          <a:ln/>
        </p:spPr>
      </p:sp>
      <p:sp>
        <p:nvSpPr>
          <p:cNvPr id="19" name="Text 17"/>
          <p:cNvSpPr/>
          <p:nvPr/>
        </p:nvSpPr>
        <p:spPr>
          <a:xfrm>
            <a:off x="6168077" y="3643412"/>
            <a:ext cx="5362143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61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68077" y="3971826"/>
            <a:ext cx="5362143" cy="4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spc="-24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Massive NCRB reports sit in static formats. Patrol units are spread uniformly. Citizens lack a single safety portal. Existing models ignore live crime news.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1475" y="4711204"/>
            <a:ext cx="309257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-49" kern="0" dirty="0">
                <a:solidFill>
                  <a:srgbClr val="0E0E1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1475" y="4954885"/>
            <a:ext cx="5362044" cy="19050"/>
          </a:xfrm>
          <a:prstGeom prst="rect">
            <a:avLst/>
          </a:prstGeom>
          <a:solidFill>
            <a:srgbClr val="F4E4D4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5070277"/>
            <a:ext cx="5362044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61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1475" y="5398691"/>
            <a:ext cx="5362044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spc="-24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unsupervised hotspot zoning, high-accuracy risk classification, time-series forecasting, live geospatial intelligence, and actionable citizen &amp; police utilities.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68077" y="4711204"/>
            <a:ext cx="309257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-49" kern="0" dirty="0">
                <a:solidFill>
                  <a:srgbClr val="0E0E1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68077" y="4954885"/>
            <a:ext cx="5362143" cy="19050"/>
          </a:xfrm>
          <a:prstGeom prst="rect">
            <a:avLst/>
          </a:prstGeom>
          <a:solidFill>
            <a:srgbClr val="8F9AA3"/>
          </a:solidFill>
          <a:ln/>
        </p:spPr>
      </p:sp>
      <p:sp>
        <p:nvSpPr>
          <p:cNvPr id="27" name="Text 25"/>
          <p:cNvSpPr/>
          <p:nvPr/>
        </p:nvSpPr>
        <p:spPr>
          <a:xfrm>
            <a:off x="6168077" y="5070277"/>
            <a:ext cx="5362143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61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Key Deliverable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68077" y="5398691"/>
            <a:ext cx="5362143" cy="4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spc="-24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integrated Flask-based web platform serving both law enforcement and the general public with real-time AI-powered crime safety intelligence.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1506"/>
            <a:ext cx="1183452" cy="238820"/>
          </a:xfrm>
          <a:prstGeom prst="roundRect">
            <a:avLst>
              <a:gd name="adj" fmla="val 47369"/>
            </a:avLst>
          </a:prstGeom>
          <a:noFill/>
          <a:ln w="6350">
            <a:solidFill>
              <a:srgbClr val="722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5730" y="668635"/>
            <a:ext cx="1604525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5" kern="0" dirty="0">
                <a:solidFill>
                  <a:srgbClr val="722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SPACE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19956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spc="-124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Problem Statement &amp; Key Challenges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1634728"/>
            <a:ext cx="1086874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spc="-25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crime analysis systems in India suffer from fundamental limitations that prevent effective proactive law enforcement and citizen safety awareness.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28590"/>
            <a:ext cx="5359762" cy="16615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7584" y="2853928"/>
            <a:ext cx="500754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62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Data Underutilization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7584" y="3188990"/>
            <a:ext cx="5007544" cy="82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spc="-25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Static CSV/PDF Formats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spc="-25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Massive historical NCRB reports remain inaccessible without real-time predictive tools to extract actionable intelligence.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0458" y="2292945"/>
            <a:ext cx="5359762" cy="18971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46567" y="2618284"/>
            <a:ext cx="500754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62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Sub-optimal Resource Allocation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346567" y="2953345"/>
            <a:ext cx="5007544" cy="82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spc="-25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Uniform Patrol Distribution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spc="-25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police patrol units are distributed uniformly instead of targeting high-vulnerability corridors identified by data.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574977"/>
            <a:ext cx="5359762" cy="16615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7584" y="4900315"/>
            <a:ext cx="500754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62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No Citizen-Centric Safety Tools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37584" y="5235377"/>
            <a:ext cx="5007544" cy="82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spc="-25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Unified Safety Portal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spc="-25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Travelers and citizens have no single portal to check district safety scores, emergency helplines, or safe travel routes.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0458" y="4339332"/>
            <a:ext cx="5359762" cy="18971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46567" y="4664670"/>
            <a:ext cx="500754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62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Static Analysis Only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6346567" y="4999732"/>
            <a:ext cx="5007544" cy="82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spc="-25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Live News Integration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spc="-25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academic models lack live web scraping to factor in ongoing crime news events and real-time intelligence feeds.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6936"/>
            <a:ext cx="1054867" cy="251420"/>
          </a:xfrm>
          <a:prstGeom prst="roundRect">
            <a:avLst>
              <a:gd name="adj" fmla="val 47364"/>
            </a:avLst>
          </a:prstGeom>
          <a:noFill/>
          <a:ln w="6350">
            <a:solidFill>
              <a:srgbClr val="722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616545"/>
            <a:ext cx="146602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6" kern="0" dirty="0">
                <a:solidFill>
                  <a:srgbClr val="722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8443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spc="-130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Proposed System vs. Existing Systems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661475" y="1649214"/>
            <a:ext cx="10868745" cy="1307207"/>
          </a:xfrm>
          <a:prstGeom prst="roundRect">
            <a:avLst>
              <a:gd name="adj" fmla="val 11387"/>
            </a:avLst>
          </a:prstGeom>
          <a:solidFill>
            <a:srgbClr val="FFF8EE"/>
          </a:solidFill>
          <a:ln w="19050">
            <a:solidFill>
              <a:srgbClr val="722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19" y="1833563"/>
            <a:ext cx="10500058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78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Why Our System Is Fundamentally Different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45819" y="2242840"/>
            <a:ext cx="1050005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crime analysis relies on manual lookups and reactive reporting. CrimeVision introduces AI-driven predictive analytics, live data pipelines, and dual-audience accessibility — a paradigm shift from static bureaucracy to dynamic intelligence.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3204468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78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Feature-by-Feature Comparison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61475" y="3948609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933031" y="3948609"/>
            <a:ext cx="19050" cy="496094"/>
          </a:xfrm>
          <a:prstGeom prst="roundRect">
            <a:avLst>
              <a:gd name="adj" fmla="val 49999"/>
            </a:avLst>
          </a:prstGeom>
          <a:solidFill>
            <a:srgbClr val="272729"/>
          </a:solidFill>
          <a:ln/>
        </p:spPr>
      </p:sp>
      <p:sp>
        <p:nvSpPr>
          <p:cNvPr id="11" name="Shape 9"/>
          <p:cNvSpPr/>
          <p:nvPr/>
        </p:nvSpPr>
        <p:spPr>
          <a:xfrm>
            <a:off x="1756525" y="376257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0E0E1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8535" y="3824536"/>
            <a:ext cx="248041" cy="24804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6769" y="4610199"/>
            <a:ext cx="223157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spc="-65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Approach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6769" y="4967883"/>
            <a:ext cx="2231572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Existing:</a:t>
            </a:r>
            <a:pPr algn="ctr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Manual statistical lookup / Reactive</a:t>
            </a:r>
            <a:endParaRPr lang="en-US" sz="130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Ours:</a:t>
            </a:r>
            <a:pPr algn="ctr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 Predictive Analytics &amp; Hotspot Zoning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01859" y="3948609"/>
            <a:ext cx="19050" cy="496094"/>
          </a:xfrm>
          <a:prstGeom prst="roundRect">
            <a:avLst>
              <a:gd name="adj" fmla="val 49999"/>
            </a:avLst>
          </a:prstGeom>
          <a:solidFill>
            <a:srgbClr val="8B4850"/>
          </a:solidFill>
          <a:ln/>
        </p:spPr>
      </p:sp>
      <p:sp>
        <p:nvSpPr>
          <p:cNvPr id="16" name="Shape 13"/>
          <p:cNvSpPr/>
          <p:nvPr/>
        </p:nvSpPr>
        <p:spPr>
          <a:xfrm>
            <a:off x="4525353" y="376257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722F37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7363" y="3824536"/>
            <a:ext cx="248041" cy="24804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95598" y="4610199"/>
            <a:ext cx="223157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spc="-65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ML Algorithms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595598" y="4967883"/>
            <a:ext cx="2231572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Existing:</a:t>
            </a:r>
            <a:pPr algn="ctr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Basic single-variable regression</a:t>
            </a:r>
            <a:endParaRPr lang="en-US" sz="130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Ours:</a:t>
            </a:r>
            <a:pPr algn="ctr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K-Means + Random Forest (97.3% Acc) + Exponential Smoothing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470687" y="3948609"/>
            <a:ext cx="19050" cy="496094"/>
          </a:xfrm>
          <a:prstGeom prst="roundRect">
            <a:avLst>
              <a:gd name="adj" fmla="val 49999"/>
            </a:avLst>
          </a:prstGeom>
          <a:solidFill>
            <a:srgbClr val="DF7347"/>
          </a:solidFill>
          <a:ln/>
        </p:spPr>
      </p:sp>
      <p:sp>
        <p:nvSpPr>
          <p:cNvPr id="21" name="Shape 17"/>
          <p:cNvSpPr/>
          <p:nvPr/>
        </p:nvSpPr>
        <p:spPr>
          <a:xfrm>
            <a:off x="7294182" y="376257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C65A2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56192" y="3824536"/>
            <a:ext cx="248041" cy="24804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64426" y="4610199"/>
            <a:ext cx="223157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spc="-65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Live News &amp; Mapping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364426" y="4967883"/>
            <a:ext cx="2231572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Existing:</a:t>
            </a:r>
            <a:pPr algn="ctr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Not integrated / Static 2D plots</a:t>
            </a:r>
            <a:endParaRPr lang="en-US" sz="130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Ours:</a:t>
            </a:r>
            <a:pPr algn="ctr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Real-time Selenium Scraper + Interactive Folium Geospatial Heatmap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10239516" y="3948609"/>
            <a:ext cx="19050" cy="496094"/>
          </a:xfrm>
          <a:prstGeom prst="roundRect">
            <a:avLst>
              <a:gd name="adj" fmla="val 49999"/>
            </a:avLst>
          </a:prstGeom>
          <a:solidFill>
            <a:srgbClr val="84888F"/>
          </a:solidFill>
          <a:ln/>
        </p:spPr>
      </p:sp>
      <p:sp>
        <p:nvSpPr>
          <p:cNvPr id="26" name="Shape 21"/>
          <p:cNvSpPr/>
          <p:nvPr/>
        </p:nvSpPr>
        <p:spPr>
          <a:xfrm>
            <a:off x="10063010" y="376257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6B6F76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5020" y="3824536"/>
            <a:ext cx="248041" cy="24804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33254" y="4610199"/>
            <a:ext cx="223167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spc="-65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9133254" y="4967883"/>
            <a:ext cx="2231672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Existing:</a:t>
            </a:r>
            <a:pPr algn="ctr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Police internal use only</a:t>
            </a:r>
            <a:endParaRPr lang="en-US" sz="130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Ours:</a:t>
            </a:r>
            <a:pPr algn="ctr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Dual Public Portal &amp; Restricted Police Dashboard (/police-dash)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8" y="99120"/>
            <a:ext cx="4439730" cy="665976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233360" y="469106"/>
            <a:ext cx="940074" cy="201116"/>
          </a:xfrm>
          <a:prstGeom prst="roundRect">
            <a:avLst>
              <a:gd name="adj" fmla="val 47368"/>
            </a:avLst>
          </a:prstGeom>
          <a:noFill/>
          <a:ln w="6350">
            <a:solidFill>
              <a:srgbClr val="722F37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5312733" y="508794"/>
            <a:ext cx="1390913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-21" kern="0" dirty="0">
                <a:solidFill>
                  <a:srgbClr val="722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5233360" y="712490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spc="-104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System Architecture &amp; Workflow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233360" y="1390452"/>
            <a:ext cx="2126502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63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End-to-End Pipeline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7079279" y="1419225"/>
            <a:ext cx="445719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b="1" spc="-21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NCRB Raw Data (data.gov.in) + Live Scraped Crime News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233360" y="1863328"/>
            <a:ext cx="62968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ingests government NCRB datasets alongside real-time scraped crime news, applies preprocessing and scaling, then branches into unsupervised clustering and supervised classification before serving outputs through a Flask backend to three key consumer modules.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553891"/>
            <a:ext cx="6296860" cy="120779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17804" y="3058517"/>
            <a:ext cx="198433" cy="1984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887394" y="2705199"/>
            <a:ext cx="54915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52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Data Ingestion &amp; Preprocessing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5887394" y="2975372"/>
            <a:ext cx="54915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-21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NCRB + Live News Scraper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5887394" y="3229372"/>
            <a:ext cx="549152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data from data.gov.in and Selenium-scraped headlines are cleaned, scaled, and feature-extracted into model-ready vectors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3360" y="3867448"/>
            <a:ext cx="6296860" cy="1207790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17804" y="4372074"/>
            <a:ext cx="198433" cy="19843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887394" y="4018756"/>
            <a:ext cx="54915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52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ML Engine</a:t>
            </a: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5887394" y="4288929"/>
            <a:ext cx="54915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-21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K-Means + Random Forest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5887394" y="4542929"/>
            <a:ext cx="549152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 clusters districts into Red / Orange / Green zones; Random Forest forecasts future risk with 97.3% accuracy</a:t>
            </a:r>
            <a:endParaRPr lang="en-US" sz="10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3360" y="5181005"/>
            <a:ext cx="6296860" cy="1207790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17804" y="5685631"/>
            <a:ext cx="198433" cy="19843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887394" y="5332313"/>
            <a:ext cx="54915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52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Flask Output Modules</a:t>
            </a:r>
            <a:endParaRPr lang="en-US" sz="1300" dirty="0"/>
          </a:p>
        </p:txBody>
      </p:sp>
      <p:sp>
        <p:nvSpPr>
          <p:cNvPr id="23" name="Text 13"/>
          <p:cNvSpPr/>
          <p:nvPr/>
        </p:nvSpPr>
        <p:spPr>
          <a:xfrm>
            <a:off x="5887394" y="5602486"/>
            <a:ext cx="54915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-21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Heatmap · PDF Engine · AI Chatbot &amp; SOS</a:t>
            </a:r>
            <a:endParaRPr lang="en-US" sz="1000" dirty="0"/>
          </a:p>
        </p:txBody>
      </p:sp>
      <p:sp>
        <p:nvSpPr>
          <p:cNvPr id="24" name="Text 14"/>
          <p:cNvSpPr/>
          <p:nvPr/>
        </p:nvSpPr>
        <p:spPr>
          <a:xfrm>
            <a:off x="5887394" y="5856486"/>
            <a:ext cx="549152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backend serves an interactive Folium geospatial heatmap, automated PDF report generator, and integrated AI chatbot with SOS panic button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289" y="117673"/>
            <a:ext cx="4414925" cy="662255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61475" y="790972"/>
            <a:ext cx="1246156" cy="238820"/>
          </a:xfrm>
          <a:prstGeom prst="roundRect">
            <a:avLst>
              <a:gd name="adj" fmla="val 47369"/>
            </a:avLst>
          </a:prstGeom>
          <a:noFill/>
          <a:ln w="6350">
            <a:solidFill>
              <a:srgbClr val="722F37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755730" y="838101"/>
            <a:ext cx="1667230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5" kern="0" dirty="0">
                <a:solidFill>
                  <a:srgbClr val="722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METHODS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661475" y="1089422"/>
            <a:ext cx="6296860" cy="981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spc="-124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Datasets, Preprocessing &amp; ML Methodology</a:t>
            </a:r>
            <a:endParaRPr lang="en-US" sz="3050" dirty="0"/>
          </a:p>
        </p:txBody>
      </p:sp>
      <p:sp>
        <p:nvSpPr>
          <p:cNvPr id="7" name="Text 3"/>
          <p:cNvSpPr/>
          <p:nvPr/>
        </p:nvSpPr>
        <p:spPr>
          <a:xfrm>
            <a:off x="661475" y="2295128"/>
            <a:ext cx="629686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spc="-25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CrimeVision is powered by three primary data sources processed through a rigorous pipeline and three complementary machine learning algorithms.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1475" y="2953345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-49" kern="0" dirty="0">
                <a:solidFill>
                  <a:srgbClr val="0E0E1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61475" y="3201194"/>
            <a:ext cx="1999406" cy="19050"/>
          </a:xfrm>
          <a:prstGeom prst="rect">
            <a:avLst/>
          </a:prstGeom>
          <a:solidFill>
            <a:srgbClr val="0E0E10"/>
          </a:solidFill>
          <a:ln/>
        </p:spPr>
      </p:sp>
      <p:sp>
        <p:nvSpPr>
          <p:cNvPr id="10" name="Text 6"/>
          <p:cNvSpPr/>
          <p:nvPr/>
        </p:nvSpPr>
        <p:spPr>
          <a:xfrm>
            <a:off x="661475" y="3317776"/>
            <a:ext cx="1999406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62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Primary</a:t>
            </a:r>
            <a:endParaRPr lang="en-US" sz="15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500" b="1" spc="-62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Data Sources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61475" y="3898404"/>
            <a:ext cx="1999406" cy="2050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spc="-25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NCRB · Census · Live News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spc="-25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800+ Indian districts across 36 States/UTs (2001–2021); Census population metrics for per-capita rate calculations; real-time scraped headlines mapped to city coordinates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810102" y="2953345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-49" kern="0" dirty="0">
                <a:solidFill>
                  <a:srgbClr val="0E0E1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810102" y="3201194"/>
            <a:ext cx="1999505" cy="19050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14" name="Text 10"/>
          <p:cNvSpPr/>
          <p:nvPr/>
        </p:nvSpPr>
        <p:spPr>
          <a:xfrm>
            <a:off x="2810102" y="3317776"/>
            <a:ext cx="1999505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62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K-Means Clustering</a:t>
            </a:r>
            <a:endParaRPr lang="en-US" sz="15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500" b="1" spc="-62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(Unsupervised)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810102" y="3898404"/>
            <a:ext cx="1999505" cy="1805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spc="-25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Silhouette Score: 0.742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spc="-25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Classifies district feature vectors into K=3 clusters — Red (High Risk), Orange (Moderate Risk), Green (Low Risk) — with high cluster segregation quality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58829" y="2953345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-49" kern="0" dirty="0">
                <a:solidFill>
                  <a:srgbClr val="0E0E1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958829" y="3201194"/>
            <a:ext cx="1999406" cy="19050"/>
          </a:xfrm>
          <a:prstGeom prst="rect">
            <a:avLst/>
          </a:prstGeom>
          <a:solidFill>
            <a:srgbClr val="C65A2E"/>
          </a:solidFill>
          <a:ln/>
        </p:spPr>
      </p:sp>
      <p:sp>
        <p:nvSpPr>
          <p:cNvPr id="18" name="Text 14"/>
          <p:cNvSpPr/>
          <p:nvPr/>
        </p:nvSpPr>
        <p:spPr>
          <a:xfrm>
            <a:off x="4958829" y="3317776"/>
            <a:ext cx="1999406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62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Random Forest</a:t>
            </a:r>
            <a:endParaRPr lang="en-US" sz="15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500" b="1" spc="-62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(Supervised)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958829" y="3898404"/>
            <a:ext cx="1999406" cy="1805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spc="-25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97.3% Accuracy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spc="-25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of 100 Decision Trees trained on 8 core IPC parameters: Murder, Attempted Murder, Rape, Kidnapping, Dacoity, Robbery, Theft, and Hurt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8205"/>
            <a:ext cx="1109536" cy="213717"/>
          </a:xfrm>
          <a:prstGeom prst="roundRect">
            <a:avLst>
              <a:gd name="adj" fmla="val 47361"/>
            </a:avLst>
          </a:prstGeom>
          <a:noFill/>
          <a:ln w="6350">
            <a:solidFill>
              <a:srgbClr val="722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809" y="600373"/>
            <a:ext cx="1550453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22" kern="0" dirty="0">
                <a:solidFill>
                  <a:srgbClr val="722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PLAN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19646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spc="-111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Real-Time Scraping, Forecasting &amp; Key Features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72419"/>
            <a:ext cx="7403617" cy="23350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85076" y="1992906"/>
            <a:ext cx="1296729" cy="40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50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Live News Scraping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85076" y="2450298"/>
            <a:ext cx="1296729" cy="103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000" spc="-25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Selenium navigates India Today Crime portal, clicks pagination, and extracts headlines with NLP RegEx city identification.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857649" y="2241179"/>
            <a:ext cx="1296729" cy="200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50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Geocoding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857649" y="2498351"/>
            <a:ext cx="1296729" cy="740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000" spc="-25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 entities are resolved to precise Latitude/Longitude coordinates for spatial mapping.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80392" y="2167098"/>
            <a:ext cx="1296729" cy="200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50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Folium Heatmap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80392" y="2424270"/>
            <a:ext cx="1296729" cy="8889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000" spc="-25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interactive heatmap (final.html) with intensity density gradient overlays for live crime visualization.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31609" y="1918825"/>
            <a:ext cx="1296729" cy="40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50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Time-Series Forecasting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331609" y="2376217"/>
            <a:ext cx="1296729" cy="118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000" spc="-25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Exponential Smoothing (α=0.3) and Geometric Growth Formula project 5-year IPC crime trends and population-adjusted rates.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852274" y="2115741"/>
            <a:ext cx="2684197" cy="1248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spc="-22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live intelligence pipeline combines web scraping, NLP, geocoding, and statistical forecasting to deliver a continuously updated geospatial crime picture for both citizens and law enforcement.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1475" y="433427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954461" y="4334272"/>
            <a:ext cx="19050" cy="421680"/>
          </a:xfrm>
          <a:prstGeom prst="roundRect">
            <a:avLst>
              <a:gd name="adj" fmla="val 49999"/>
            </a:avLst>
          </a:prstGeom>
          <a:solidFill>
            <a:srgbClr val="272729"/>
          </a:solidFill>
          <a:ln/>
        </p:spPr>
      </p:sp>
      <p:sp>
        <p:nvSpPr>
          <p:cNvPr id="17" name="Shape 14"/>
          <p:cNvSpPr/>
          <p:nvPr/>
        </p:nvSpPr>
        <p:spPr>
          <a:xfrm>
            <a:off x="1805835" y="4176117"/>
            <a:ext cx="316301" cy="316309"/>
          </a:xfrm>
          <a:prstGeom prst="roundRect">
            <a:avLst>
              <a:gd name="adj" fmla="val 40001"/>
            </a:avLst>
          </a:prstGeom>
          <a:solidFill>
            <a:srgbClr val="0E0E10"/>
          </a:solidFill>
          <a:ln/>
        </p:spPr>
      </p:sp>
      <p:sp>
        <p:nvSpPr>
          <p:cNvPr id="18" name="Text 15"/>
          <p:cNvSpPr/>
          <p:nvPr/>
        </p:nvSpPr>
        <p:spPr>
          <a:xfrm>
            <a:off x="1858569" y="4202509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spc="-66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01965" y="4896545"/>
            <a:ext cx="232414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spc="-55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🚨</a:t>
            </a:r>
            <a:pPr algn="ctr" indent="0" marL="0">
              <a:lnSpc>
                <a:spcPct val="104000"/>
              </a:lnSpc>
              <a:buNone/>
            </a:pPr>
            <a:r>
              <a:rPr lang="en-US" sz="1350" b="1" spc="-55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Emergency &amp; SOS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01965" y="5187752"/>
            <a:ext cx="2324141" cy="1111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3000"/>
              </a:lnSpc>
              <a:spcAft>
                <a:spcPts val="550"/>
              </a:spcAft>
              <a:buNone/>
            </a:pPr>
            <a:r>
              <a:rPr lang="en-US" sz="1100" b="1" spc="-22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helplines: 112, 1091, 1930, 1098</a:t>
            </a:r>
            <a:endParaRPr lang="en-US" sz="1100" dirty="0"/>
          </a:p>
          <a:p>
            <a:pPr algn="ctr" indent="0" marL="0">
              <a:lnSpc>
                <a:spcPct val="123000"/>
              </a:lnSpc>
              <a:buNone/>
            </a:pPr>
            <a:r>
              <a:rPr lang="en-US" sz="1100" spc="-22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Zone-specific safety advisories and citizen SOS panic button with live GPS WhatsApp alert share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09003" y="4334272"/>
            <a:ext cx="19050" cy="421680"/>
          </a:xfrm>
          <a:prstGeom prst="roundRect">
            <a:avLst>
              <a:gd name="adj" fmla="val 49999"/>
            </a:avLst>
          </a:prstGeom>
          <a:solidFill>
            <a:srgbClr val="8B4850"/>
          </a:solidFill>
          <a:ln/>
        </p:spPr>
      </p:sp>
      <p:sp>
        <p:nvSpPr>
          <p:cNvPr id="22" name="Shape 19"/>
          <p:cNvSpPr/>
          <p:nvPr/>
        </p:nvSpPr>
        <p:spPr>
          <a:xfrm>
            <a:off x="4560377" y="4176117"/>
            <a:ext cx="316301" cy="316309"/>
          </a:xfrm>
          <a:prstGeom prst="roundRect">
            <a:avLst>
              <a:gd name="adj" fmla="val 40001"/>
            </a:avLst>
          </a:prstGeom>
          <a:solidFill>
            <a:srgbClr val="722F37"/>
          </a:solidFill>
          <a:ln/>
        </p:spPr>
      </p:sp>
      <p:sp>
        <p:nvSpPr>
          <p:cNvPr id="23" name="Text 20"/>
          <p:cNvSpPr/>
          <p:nvPr/>
        </p:nvSpPr>
        <p:spPr>
          <a:xfrm>
            <a:off x="4613110" y="4202509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spc="-66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3556407" y="4896545"/>
            <a:ext cx="232424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spc="-55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📄</a:t>
            </a:r>
            <a:pPr algn="ctr" indent="0" marL="0">
              <a:lnSpc>
                <a:spcPct val="104000"/>
              </a:lnSpc>
              <a:buNone/>
            </a:pPr>
            <a:r>
              <a:rPr lang="en-US" sz="1350" b="1" spc="-55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PDF Report &amp; Risk Score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3556407" y="5187752"/>
            <a:ext cx="2324240" cy="111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3000"/>
              </a:lnSpc>
              <a:spcAft>
                <a:spcPts val="550"/>
              </a:spcAft>
              <a:buNone/>
            </a:pPr>
            <a:r>
              <a:rPr lang="en-US" sz="1100" b="1" spc="-22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One-click printable reports</a:t>
            </a:r>
            <a:endParaRPr lang="en-US" sz="1100" dirty="0"/>
          </a:p>
          <a:p>
            <a:pPr algn="ctr" indent="0" marL="0">
              <a:lnSpc>
                <a:spcPct val="123000"/>
              </a:lnSpc>
              <a:buNone/>
            </a:pPr>
            <a:r>
              <a:rPr lang="en-US" sz="1100" spc="-22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PDF with risk score gauge (0–100 Crime Risk Index), stats table, and verification seal for any Indian district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463544" y="4334272"/>
            <a:ext cx="19050" cy="421680"/>
          </a:xfrm>
          <a:prstGeom prst="roundRect">
            <a:avLst>
              <a:gd name="adj" fmla="val 49999"/>
            </a:avLst>
          </a:prstGeom>
          <a:solidFill>
            <a:srgbClr val="DF7347"/>
          </a:solidFill>
          <a:ln/>
        </p:spPr>
      </p:sp>
      <p:sp>
        <p:nvSpPr>
          <p:cNvPr id="27" name="Shape 24"/>
          <p:cNvSpPr/>
          <p:nvPr/>
        </p:nvSpPr>
        <p:spPr>
          <a:xfrm>
            <a:off x="7314918" y="4176117"/>
            <a:ext cx="316301" cy="316309"/>
          </a:xfrm>
          <a:prstGeom prst="roundRect">
            <a:avLst>
              <a:gd name="adj" fmla="val 40001"/>
            </a:avLst>
          </a:prstGeom>
          <a:solidFill>
            <a:srgbClr val="C65A2E"/>
          </a:solidFill>
          <a:ln/>
        </p:spPr>
      </p:sp>
      <p:sp>
        <p:nvSpPr>
          <p:cNvPr id="28" name="Text 25"/>
          <p:cNvSpPr/>
          <p:nvPr/>
        </p:nvSpPr>
        <p:spPr>
          <a:xfrm>
            <a:off x="7367651" y="4202509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spc="-66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6310948" y="4896545"/>
            <a:ext cx="232424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spc="-55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pPr algn="ctr" indent="0" marL="0">
              <a:lnSpc>
                <a:spcPct val="104000"/>
              </a:lnSpc>
              <a:buNone/>
            </a:pPr>
            <a:r>
              <a:rPr lang="en-US" sz="1350" b="1" spc="-55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AI Chatbot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6310948" y="5187752"/>
            <a:ext cx="2324240" cy="111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3000"/>
              </a:lnSpc>
              <a:spcAft>
                <a:spcPts val="550"/>
              </a:spcAft>
              <a:buNone/>
            </a:pPr>
            <a:r>
              <a:rPr lang="en-US" sz="1100" b="1" spc="-22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Floating interactive assistant</a:t>
            </a:r>
            <a:endParaRPr lang="en-US" sz="1100" dirty="0"/>
          </a:p>
          <a:p>
            <a:pPr algn="ctr" indent="0" marL="0">
              <a:lnSpc>
                <a:spcPct val="123000"/>
              </a:lnSpc>
              <a:buNone/>
            </a:pPr>
            <a:r>
              <a:rPr lang="en-US" sz="1100" spc="-22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natural-language safety queries like </a:t>
            </a:r>
            <a:pPr algn="ctr" indent="0" marL="0">
              <a:lnSpc>
                <a:spcPct val="123000"/>
              </a:lnSpc>
              <a:buNone/>
            </a:pPr>
            <a:r>
              <a:rPr lang="en-US" sz="1100" i="1" spc="-22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"Is Jaipur safe?"</a:t>
            </a:r>
            <a:pPr algn="ctr" indent="0" marL="0">
              <a:lnSpc>
                <a:spcPct val="123000"/>
              </a:lnSpc>
              <a:buNone/>
            </a:pPr>
            <a:r>
              <a:rPr lang="en-US" sz="1100" spc="-22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emergency helpline lookups in real time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0218085" y="4334272"/>
            <a:ext cx="19050" cy="421680"/>
          </a:xfrm>
          <a:prstGeom prst="roundRect">
            <a:avLst>
              <a:gd name="adj" fmla="val 49999"/>
            </a:avLst>
          </a:prstGeom>
          <a:solidFill>
            <a:srgbClr val="84888F"/>
          </a:solidFill>
          <a:ln/>
        </p:spPr>
      </p:sp>
      <p:sp>
        <p:nvSpPr>
          <p:cNvPr id="32" name="Shape 29"/>
          <p:cNvSpPr/>
          <p:nvPr/>
        </p:nvSpPr>
        <p:spPr>
          <a:xfrm>
            <a:off x="10069459" y="4176117"/>
            <a:ext cx="316301" cy="316309"/>
          </a:xfrm>
          <a:prstGeom prst="roundRect">
            <a:avLst>
              <a:gd name="adj" fmla="val 40001"/>
            </a:avLst>
          </a:prstGeom>
          <a:solidFill>
            <a:srgbClr val="6B6F76"/>
          </a:solidFill>
          <a:ln/>
        </p:spPr>
      </p:sp>
      <p:sp>
        <p:nvSpPr>
          <p:cNvPr id="33" name="Text 30"/>
          <p:cNvSpPr/>
          <p:nvPr/>
        </p:nvSpPr>
        <p:spPr>
          <a:xfrm>
            <a:off x="10122192" y="4202509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spc="-66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9065490" y="4896545"/>
            <a:ext cx="232424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spc="-55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👮</a:t>
            </a:r>
            <a:pPr algn="ctr" indent="0" marL="0">
              <a:lnSpc>
                <a:spcPct val="104000"/>
              </a:lnSpc>
              <a:buNone/>
            </a:pPr>
            <a:r>
              <a:rPr lang="en-US" sz="1350" b="1" spc="-55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Police Dashboard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9065490" y="5187752"/>
            <a:ext cx="2324240" cy="111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3000"/>
              </a:lnSpc>
              <a:spcAft>
                <a:spcPts val="550"/>
              </a:spcAft>
              <a:buNone/>
            </a:pPr>
            <a:r>
              <a:rPr lang="en-US" sz="1100" b="1" spc="-22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/police-dash (Restricted)</a:t>
            </a:r>
            <a:endParaRPr lang="en-US" sz="1100" dirty="0"/>
          </a:p>
          <a:p>
            <a:pPr algn="ctr" indent="0" marL="0">
              <a:lnSpc>
                <a:spcPct val="123000"/>
              </a:lnSpc>
              <a:buNone/>
            </a:pPr>
            <a:r>
              <a:rPr lang="en-US" sz="1100" spc="-22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patrol unit dispatch control, Red Zone alert ticker, resource deployment bars, and district comparison tool (/compare)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887" y="99120"/>
            <a:ext cx="4439730" cy="665976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61475" y="502245"/>
            <a:ext cx="604227" cy="201116"/>
          </a:xfrm>
          <a:prstGeom prst="roundRect">
            <a:avLst>
              <a:gd name="adj" fmla="val 47368"/>
            </a:avLst>
          </a:prstGeom>
          <a:noFill/>
          <a:ln w="6350">
            <a:solidFill>
              <a:srgbClr val="722F37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740848" y="541933"/>
            <a:ext cx="1055066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-21" kern="0" dirty="0">
                <a:solidFill>
                  <a:srgbClr val="722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661475" y="745629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spc="-104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Experimental Results &amp; Model Performance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661475" y="1764308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0E0E10">
              <a:alpha val="50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661475" y="1975148"/>
            <a:ext cx="629686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63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Random Forest Classification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61475" y="2381945"/>
            <a:ext cx="6296860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000" b="1" spc="-21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Overall Accuracy: 97.3% | Precision: 96.8% | Recall: 97.1% | F1-Score: 96.9%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Evaluated on a held-out test set of Indian district records. The confusion matrix confirms high true-positive rates across all three risk zone classes (Red, Orange, Green) with minimal cross-class misclassification.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61475" y="3415109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0E0E10">
              <a:alpha val="5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61475" y="3625949"/>
            <a:ext cx="629686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63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Clustering &amp; Regression Benchmarks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61475" y="4032746"/>
            <a:ext cx="690644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-21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K-Means Silhouette Score: 0.742 | Linear Regression R² Score: 0.924 | RMSE: 11.9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342309"/>
            <a:ext cx="6296860" cy="95379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918" y="4719935"/>
            <a:ext cx="198433" cy="19843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15508" y="4493617"/>
            <a:ext cx="54915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52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High Cluster Segregation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315508" y="4763790"/>
            <a:ext cx="549152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Silhouette score of 0.742 confirms well-separated district clusters — Red, Orange, and Green zones are distinctly defined with minimal overlap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5401866"/>
            <a:ext cx="6296860" cy="95379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5918" y="5779492"/>
            <a:ext cx="198433" cy="19843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315508" y="5553174"/>
            <a:ext cx="54915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52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Strong Forecasting Fit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1315508" y="5823347"/>
            <a:ext cx="549152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R² of 0.924 and RMSE of 11.9 demonstrate that the Linear Regression + Exponential Smoothing model accurately captures 5-year IPC crime trend trajectories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50205"/>
            <a:ext cx="838973" cy="251420"/>
          </a:xfrm>
          <a:prstGeom prst="roundRect">
            <a:avLst>
              <a:gd name="adj" fmla="val 47364"/>
            </a:avLst>
          </a:prstGeom>
          <a:noFill/>
          <a:ln w="6350">
            <a:solidFill>
              <a:srgbClr val="722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899815"/>
            <a:ext cx="125012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6" kern="0" dirty="0">
                <a:solidFill>
                  <a:srgbClr val="722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16770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spc="-130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Future Scope &amp; Potential Extensions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93248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CrimeVision establishes a robust foundation. The following extensions represent high-impact directions for scaling the platform's predictive capability and reach.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647752"/>
            <a:ext cx="3512653" cy="26447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3781" y="2790726"/>
            <a:ext cx="248041" cy="2480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5819" y="3328194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65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CCTV Computer Vision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45819" y="3685877"/>
            <a:ext cx="314396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YOLOv8 / OpenCV Integration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45819" y="4049713"/>
            <a:ext cx="314396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Incorporate real-time object detection on live surveillance camera feeds to trigger automated alerts for suspicious activity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9422" y="2647752"/>
            <a:ext cx="3512752" cy="2644775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71728" y="2790726"/>
            <a:ext cx="248041" cy="2480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23766" y="3328194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65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Native Mobile App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4523766" y="3685877"/>
            <a:ext cx="3144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Flutter / Android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523766" y="4049713"/>
            <a:ext cx="31440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citizen SOS features into a background-running native mobile application for always-on personal safety monitoring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17468" y="2647752"/>
            <a:ext cx="3512653" cy="2644775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49774" y="2790726"/>
            <a:ext cx="248041" cy="248047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201812" y="3328194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65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Graph Neural Networks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8201812" y="3685877"/>
            <a:ext cx="314396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Cross-District Crime Modeling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8201812" y="4049713"/>
            <a:ext cx="314396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inter-district crime movement and inter-state gang networks using spatial graph architectures (GNNs)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661475" y="5478562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CCTNS Integration</a:t>
            </a:r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Direct API integration with Crime and Criminal Tracking Network &amp; Systems — enabling state police portals to consume CrimeVision predictions in real time.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80516"/>
            <a:ext cx="537554" cy="152995"/>
          </a:xfrm>
          <a:prstGeom prst="roundRect">
            <a:avLst>
              <a:gd name="adj" fmla="val 47430"/>
            </a:avLst>
          </a:prstGeom>
          <a:noFill/>
          <a:ln w="6350">
            <a:solidFill>
              <a:srgbClr val="722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1898" y="510679"/>
            <a:ext cx="1026293" cy="92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spc="-16" kern="0" dirty="0">
                <a:solidFill>
                  <a:srgbClr val="722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61475" y="658019"/>
            <a:ext cx="10868745" cy="315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79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LIVE SYSTEM DEMONSTRATION &amp; PROJECT PORTAL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61475" y="997545"/>
            <a:ext cx="1086874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48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Deployed Cloud Platform &amp; Interactive System Showcase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61475" y="1303734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0E0E10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1472009"/>
            <a:ext cx="4755634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48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Platform Links &amp; Highlights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1475" y="1722437"/>
            <a:ext cx="4755634" cy="60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</a:t>
            </a:r>
            <a:pPr algn="l" indent="0" marL="0"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sz="950" b="1" spc="-1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Cloud URL</a:t>
            </a:r>
            <a:pPr algn="l" indent="0" marL="0"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          </a:t>
            </a:r>
            <a:pPr algn="l" indent="0" marL="0"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sz="950" b="1" u="sng" spc="-16" kern="0" dirty="0">
                <a:solidFill>
                  <a:srgbClr val="722F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crime-analysis-ai.onrender.com</a:t>
            </a:r>
            <a:pPr algn="l" indent="0" marL="0"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</a:t>
            </a:r>
            <a:endParaRPr lang="en-US" sz="950" dirty="0"/>
          </a:p>
          <a:p>
            <a:pPr algn="l" indent="0" marL="0"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sz="950" b="1" spc="-1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           Local Server</a:t>
            </a:r>
            <a:pPr algn="l" indent="0" marL="0"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l" indent="0" marL="0"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sz="950" spc="-16" kern="0" dirty="0">
                <a:solidFill>
                  <a:srgbClr val="0E0E10"/>
                </a:solidFill>
                <a:highlight>
                  <a:srgbClr val="F2EBE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http://localhost:5001</a:t>
            </a:r>
            <a:endParaRPr lang="en-US" sz="9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</a:t>
            </a:r>
            <a:pPr algn="l" indent="0" marL="0">
              <a:lnSpc>
                <a:spcPct val="107000"/>
              </a:lnSpc>
              <a:buNone/>
            </a:pPr>
            <a:r>
              <a:rPr lang="en-US" sz="950" b="1" spc="-1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GitHub Repository</a:t>
            </a:r>
            <a:pPr algn="l" indent="0" marL="0">
              <a:lnSpc>
                <a:spcPct val="107000"/>
              </a:lnSpc>
              <a:buNone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          </a:t>
            </a:r>
            <a:pPr algn="l" indent="0" marL="0">
              <a:lnSpc>
                <a:spcPct val="107000"/>
              </a:lnSpc>
              <a:buNone/>
            </a:pPr>
            <a:r>
              <a:rPr lang="en-US" sz="950" b="1" u="sng" spc="-16" kern="0" dirty="0">
                <a:solidFill>
                  <a:srgbClr val="722F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github.com/cse-kiet/PCSE27-09</a:t>
            </a:r>
            <a:pPr algn="l" indent="0" marL="0">
              <a:lnSpc>
                <a:spcPct val="107000"/>
              </a:lnSpc>
              <a:buNone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61475" y="2387402"/>
            <a:ext cx="4755634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48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Core Features Demonstrated: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1475" y="2637830"/>
            <a:ext cx="4755634" cy="11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🔍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b="1" spc="-1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Multi-District Search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Instant Risk Index Score (0–100) calculator.</a:t>
            </a:r>
            <a:endParaRPr lang="en-US" sz="950" dirty="0"/>
          </a:p>
          <a:p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b="1" spc="-1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District Comparison Tool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Side-by-side graphs (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E0E10"/>
                </a:solidFill>
                <a:highlight>
                  <a:srgbClr val="F2EBE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/compare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950" dirty="0"/>
          </a:p>
          <a:p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🗺️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b="1" spc="-1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Folium Live Heatmap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Scraped headlines with NLP filters (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E0E10"/>
                </a:solidFill>
                <a:highlight>
                  <a:srgbClr val="F2EBE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/crimefeed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950" dirty="0"/>
          </a:p>
          <a:p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👮‍♂️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b="1" spc="-1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Police Dashboard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Active dispatch log &amp; Red Zone alerts (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E0E10"/>
                </a:solidFill>
                <a:highlight>
                  <a:srgbClr val="F2EBE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/police-dash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950" dirty="0"/>
          </a:p>
          <a:p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📈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b="1" spc="-1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Academic ML Lab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Confusion Matrix &amp; Silhouette Scores (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E0E10"/>
                </a:solidFill>
                <a:highlight>
                  <a:srgbClr val="F2EBE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/model-metrics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950" dirty="0"/>
          </a:p>
          <a:p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🚨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b="1" spc="-16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Citizen Safety</a:t>
            </a:r>
            <a:pPr algn="l" marL="193040" indent="-193040">
              <a:lnSpc>
                <a:spcPct val="107000"/>
              </a:lnSpc>
              <a:buSzPct val="100000"/>
              <a:buChar char="•"/>
            </a:pPr>
            <a:r>
              <a:rPr lang="en-US" sz="950" spc="-16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1-Click PDF Report, AI Chatbot &amp; SOS Panic Alert.</a:t>
            </a:r>
            <a:endParaRPr lang="en-US" sz="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421" y="3812778"/>
            <a:ext cx="2893742" cy="158720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69317" y="1472009"/>
            <a:ext cx="586715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-40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Screenshot Gallery</a:t>
            </a:r>
            <a:endParaRPr lang="en-US" sz="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317" y="1698526"/>
            <a:ext cx="3569901" cy="19580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317" y="3725664"/>
            <a:ext cx="5867154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7000"/>
              </a:lnSpc>
              <a:spcAft>
                <a:spcPts val="400"/>
              </a:spcAft>
              <a:buNone/>
            </a:pPr>
            <a:endParaRPr lang="en-US" sz="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317" y="4057551"/>
            <a:ext cx="3813576" cy="20917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887" y="99120"/>
            <a:ext cx="4439730" cy="665976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61475" y="661988"/>
            <a:ext cx="643120" cy="201116"/>
          </a:xfrm>
          <a:prstGeom prst="roundRect">
            <a:avLst>
              <a:gd name="adj" fmla="val 47368"/>
            </a:avLst>
          </a:prstGeom>
          <a:noFill/>
          <a:ln w="6350">
            <a:solidFill>
              <a:srgbClr val="722F37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740848" y="701675"/>
            <a:ext cx="1093959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-21" kern="0" dirty="0">
                <a:solidFill>
                  <a:srgbClr val="722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WRAP-UP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661475" y="905371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spc="-104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Conclusion &amp; Key Takeaways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661475" y="1510605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0E0E10">
              <a:alpha val="50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661475" y="1721445"/>
            <a:ext cx="629686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63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What We Built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61475" y="2128242"/>
            <a:ext cx="6296860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000" b="1" spc="-21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 end-to-end predictive policing and safety intelligence platform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combined historical NCRB data analytics (K-Means, Random Forest 97.3%) with real-time web scraping and Folium geospatial mapping. Delivered practical real-world utilities for both law enforcement officers (patrol allocation dashboard) and citizens (PDF reports, SOS panic alert, safe route inspector).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61475" y="3351907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0E0E10">
              <a:alpha val="5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61475" y="3562747"/>
            <a:ext cx="629686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63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Thank You!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61475" y="3969544"/>
            <a:ext cx="690644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-21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 for Questions &amp; Suggestions.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279106"/>
            <a:ext cx="6296860" cy="793849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918" y="4576763"/>
            <a:ext cx="198433" cy="19843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15508" y="4430415"/>
            <a:ext cx="54915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52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Open Floor for Questions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315508" y="4700588"/>
            <a:ext cx="54915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questions, feedback, and ideas for extending CrimeVision are warmly welcomed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5178723"/>
            <a:ext cx="6296860" cy="101729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5918" y="5588099"/>
            <a:ext cx="198433" cy="19843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315508" y="5330031"/>
            <a:ext cx="54915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52" kern="0" dirty="0">
                <a:solidFill>
                  <a:srgbClr val="0E0E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Guided By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1315508" y="5600204"/>
            <a:ext cx="549152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50"/>
              </a:spcAft>
              <a:buNone/>
            </a:pPr>
            <a:r>
              <a:rPr lang="en-US" sz="1000" b="1" spc="-21" kern="0" dirty="0">
                <a:solidFill>
                  <a:srgbClr val="0E0E1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Dr. Nishu Gupta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KIET Group Of Institution | Computer Science &amp; Engineering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722F3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2026-09-16T01:54:28Z</dcterms:created>
  <dcterms:modified xsi:type="dcterms:W3CDTF">2026-09-16T01:54:28Z</dcterms:modified>
</cp:coreProperties>
</file>